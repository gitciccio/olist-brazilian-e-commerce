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894582"/>
            <a:ext cx="7620000" cy="30686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33500" y="2370832"/>
            <a:ext cx="65722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05088"/>
                </a:solidFill>
                <a:latin typeface="DM Sans"/>
              </a:rPr>
              <a:t>PROGETTO UNIVERSITARIO -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2852737"/>
            <a:ext cx="6900862" cy="617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59"/>
              </a:lnSpc>
            </a:pPr>
            <a:r>
              <a:rPr sz="4050" b="1" i="0" u="none">
                <a:solidFill>
                  <a:srgbClr val="005088"/>
                </a:solidFill>
                <a:latin typeface="Merriweather"/>
              </a:rPr>
              <a:t>Brazilian E-Commerce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612802"/>
            <a:ext cx="65722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34155"/>
                </a:solidFill>
                <a:latin typeface="DM Sans"/>
              </a:rPr>
              <a:t>Analisi Multidimensionale delle Performance di Olist (2016-2018)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5371" y="1356568"/>
            <a:ext cx="10061257" cy="1287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70"/>
              </a:lnSpc>
            </a:pPr>
            <a:r>
              <a:rPr sz="3900" b="1" i="0" u="none">
                <a:solidFill>
                  <a:srgbClr val="005088"/>
                </a:solidFill>
                <a:latin typeface="Merriweather"/>
              </a:rPr>
              <a:t>Parte 1 - Il Sintomo:</a:t>
            </a:r>
            <a:r>
              <a:t>
</a:t>
            </a:r>
            <a:r>
              <a:rPr sz="3900" b="1" i="0" u="none">
                <a:solidFill>
                  <a:srgbClr val="005088"/>
                </a:solidFill>
                <a:latin typeface="Merriweather"/>
              </a:rPr>
              <a:t> Qualità Percepita e Tasso di Abbandono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19750" y="3025229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47975" y="3263354"/>
            <a:ext cx="64960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DM Sans"/>
              </a:rPr>
              <a:t>Il mercato dell'e-commerce è in evidente crescita strutturale.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3819525"/>
            <a:ext cx="85725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DM Sans"/>
              </a:rPr>
              <a:t>Ma per valutarne la salute reale, le sole metriche finanziarie non bastano. È fondamentale pesare l'atteggiamento post-acquisto.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5087" y="4931866"/>
            <a:ext cx="6981825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1" i="0" u="none">
                <a:solidFill>
                  <a:srgbClr val="005088"/>
                </a:solidFill>
                <a:latin typeface="DM Sans"/>
              </a:rPr>
              <a:t>I clienti sono soddisfatti o stanno diventando apatici?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71500"/>
            <a:ext cx="11601450" cy="470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04"/>
              </a:lnSpc>
            </a:pPr>
            <a:r>
              <a:rPr sz="2850" b="1" i="0" u="none">
                <a:solidFill>
                  <a:srgbClr val="005088"/>
                </a:solidFill>
                <a:latin typeface="Merriweather"/>
              </a:rPr>
              <a:t>Il Battito Cardiaco (Salute Finanziaria e Volumi)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257FD7-9191-45CD-C156-D09278201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191" y="1379042"/>
            <a:ext cx="9891617" cy="40999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44117"/>
            <a:ext cx="5286375" cy="25735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944117"/>
            <a:ext cx="5286375" cy="25735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09750" y="2048767"/>
            <a:ext cx="85725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DM Sans"/>
              </a:rPr>
              <a:t>Esistono due motivazioni cruciali che minacciano il business, visibili solo analizzando il comportamento post-acquisto: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4642"/>
            <a:ext cx="4830603" cy="314325"/>
          </a:xfrm>
          <a:prstGeom prst="rect">
            <a:avLst/>
          </a:prstGeom>
          <a:noFill/>
        </p:spPr>
        <p:txBody>
          <a:bodyPr wrap="square" lIns="371475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EF4444"/>
                </a:solidFill>
                <a:latin typeface="Merriweather"/>
              </a:rPr>
              <a:t>Punteggi Bassi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1842"/>
            <a:ext cx="46005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DM Sans"/>
              </a:rPr>
              <a:t>Dichiarano un evidente disagio attivo da parte degli utenti.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44317"/>
            <a:ext cx="46005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64748B"/>
                </a:solidFill>
                <a:latin typeface="DM Sans"/>
              </a:rPr>
              <a:t>Indica una bassa qualità percepita del servizio o della catena logistica.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3334642"/>
            <a:ext cx="4830603" cy="314325"/>
          </a:xfrm>
          <a:prstGeom prst="rect">
            <a:avLst/>
          </a:prstGeom>
          <a:noFill/>
        </p:spPr>
        <p:txBody>
          <a:bodyPr wrap="square" lIns="409575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64748B"/>
                </a:solidFill>
                <a:latin typeface="Merriweather"/>
              </a:rPr>
              <a:t>Punteggi Assenti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3791842"/>
            <a:ext cx="46005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DM Sans"/>
              </a:rPr>
              <a:t>Dichiarano uno stato di apatia nel rilasciare un feedback.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4544317"/>
            <a:ext cx="46005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64748B"/>
                </a:solidFill>
                <a:latin typeface="DM Sans"/>
              </a:rPr>
              <a:t>Denota una grave perdita di engagement (Tasso di Abbandono) da parte del consumatore.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372742"/>
            <a:ext cx="276225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7025" y="3372742"/>
            <a:ext cx="314325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470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04"/>
              </a:lnSpc>
            </a:pPr>
            <a:r>
              <a:rPr sz="2850" b="1" i="0" u="none">
                <a:solidFill>
                  <a:srgbClr val="005088"/>
                </a:solidFill>
                <a:latin typeface="Merriweather"/>
              </a:rPr>
              <a:t>La Necessità di Analizzare il Feedback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470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04"/>
              </a:lnSpc>
            </a:pPr>
            <a:r>
              <a:rPr sz="2850" b="1" i="0" u="none">
                <a:solidFill>
                  <a:srgbClr val="005088"/>
                </a:solidFill>
                <a:latin typeface="Merriweather"/>
              </a:rPr>
              <a:t>Matrice: Qualità Percepita vs Tasso di Abbandono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F13F92-4D95-2983-EFA1-5FD6C315B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274" y="1756431"/>
            <a:ext cx="8207451" cy="41151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30654" y="1634579"/>
            <a:ext cx="5530691" cy="1287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70"/>
              </a:lnSpc>
            </a:pPr>
            <a:r>
              <a:rPr sz="3900" b="1" i="0" u="none">
                <a:solidFill>
                  <a:srgbClr val="005088"/>
                </a:solidFill>
                <a:latin typeface="Merriweather"/>
              </a:rPr>
              <a:t>Parte 2 - La Diagnosi:</a:t>
            </a:r>
            <a:r>
              <a:t>
</a:t>
            </a:r>
            <a:r>
              <a:rPr sz="3900" b="1" i="0" u="none">
                <a:solidFill>
                  <a:srgbClr val="005088"/>
                </a:solidFill>
                <a:latin typeface="Merriweather"/>
              </a:rPr>
              <a:t> Il Disastro Logistico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19750" y="3303240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09750" y="3541365"/>
            <a:ext cx="85725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DM Sans"/>
              </a:rPr>
              <a:t>Il Brasile è vastissimo. La nostra ipotesi è che il malcontento nasca nella Supply Chain.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2187" y="4653706"/>
            <a:ext cx="7667625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1" i="0" u="none">
                <a:solidFill>
                  <a:srgbClr val="005088"/>
                </a:solidFill>
                <a:latin typeface="DM Sans"/>
              </a:rPr>
              <a:t>"Qual è il ritardo medio di consegna calcolato per regione?"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55230" y="1550640"/>
            <a:ext cx="7081539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64748B"/>
                </a:solidFill>
                <a:latin typeface="DM Sans"/>
              </a:rPr>
              <a:t>Applicando DATEDIFF(Consegna, Stima) su dim_date, emergono criticità sistemiche.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11601450" cy="470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04"/>
              </a:lnSpc>
            </a:pPr>
            <a:r>
              <a:rPr sz="2850" b="1" i="0" u="none">
                <a:solidFill>
                  <a:srgbClr val="005088"/>
                </a:solidFill>
                <a:latin typeface="Merriweather"/>
              </a:rPr>
              <a:t>Mappa del Ritardo (% Ordini Oltre Data Stimata)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2106CC-8EE4-4CAE-A190-ED4C36CEC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3128" y="2314369"/>
            <a:ext cx="4625741" cy="40541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90486" y="1604069"/>
            <a:ext cx="8211026" cy="1287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70"/>
              </a:lnSpc>
            </a:pPr>
            <a:r>
              <a:rPr sz="3900" b="1" i="0" u="none">
                <a:solidFill>
                  <a:srgbClr val="005088"/>
                </a:solidFill>
                <a:latin typeface="Merriweather"/>
              </a:rPr>
              <a:t>Parte 3 - L'Impatto sul Business:</a:t>
            </a:r>
            <a:r>
              <a:t>
</a:t>
            </a:r>
            <a:r>
              <a:rPr sz="3900" b="1" i="0" u="none">
                <a:solidFill>
                  <a:srgbClr val="005088"/>
                </a:solidFill>
                <a:latin typeface="Merriweather"/>
              </a:rPr>
              <a:t> Come il trasporto detta le regole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19750" y="3272730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38400" y="3510855"/>
            <a:ext cx="73152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DM Sans"/>
              </a:rPr>
              <a:t>Quanto costa questa inefficienza e come incide sui prodotti venduti?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4257526"/>
            <a:ext cx="8572500" cy="853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1" i="0" u="none">
                <a:solidFill>
                  <a:srgbClr val="005088"/>
                </a:solidFill>
                <a:latin typeface="DM Sans"/>
              </a:rPr>
              <a:t>"Quali sono le prime 5 categorie per stato, e l'incidenza del costo di spedizione?"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" y="-104775"/>
            <a:ext cx="12192000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1500" y="1651545"/>
            <a:ext cx="6667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28725" y="1327695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38250" y="1651545"/>
            <a:ext cx="1905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43250" y="1651545"/>
            <a:ext cx="84772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352797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2694533"/>
            <a:ext cx="6667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28725" y="1670595"/>
            <a:ext cx="9525" cy="103346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38250" y="1923008"/>
            <a:ext cx="1905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43250" y="1923008"/>
            <a:ext cx="8477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43250" y="1670595"/>
            <a:ext cx="9525" cy="26193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38250" y="2180183"/>
            <a:ext cx="1905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143250" y="2180183"/>
            <a:ext cx="8477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143250" y="1932533"/>
            <a:ext cx="9525" cy="257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238250" y="2437358"/>
            <a:ext cx="1905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143250" y="2437358"/>
            <a:ext cx="8477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143250" y="2189708"/>
            <a:ext cx="9525" cy="257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238250" y="2694533"/>
            <a:ext cx="1905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143250" y="2694533"/>
            <a:ext cx="8477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143250" y="2446883"/>
            <a:ext cx="9525" cy="257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1500" y="3466058"/>
            <a:ext cx="6667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71500" y="2704058"/>
            <a:ext cx="666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228725" y="2704058"/>
            <a:ext cx="9525" cy="771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238250" y="2704058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143250" y="2951708"/>
            <a:ext cx="8477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143250" y="2704058"/>
            <a:ext cx="847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143250" y="2704058"/>
            <a:ext cx="9525" cy="257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238250" y="3208883"/>
            <a:ext cx="1905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143250" y="3208883"/>
            <a:ext cx="8477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143250" y="2961233"/>
            <a:ext cx="9525" cy="257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238250" y="3466058"/>
            <a:ext cx="1905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143250" y="3466058"/>
            <a:ext cx="8477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143250" y="3218408"/>
            <a:ext cx="9525" cy="257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71500" y="571500"/>
            <a:ext cx="11601450" cy="470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04"/>
              </a:lnSpc>
            </a:pPr>
            <a:r>
              <a:rPr sz="2850" b="1" i="0" u="none">
                <a:solidFill>
                  <a:srgbClr val="005088"/>
                </a:solidFill>
                <a:latin typeface="Merriweather"/>
              </a:rPr>
              <a:t>Top 5 States (Bassa Incidenza Trasporto)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53F13782-1902-5EC2-7F3C-6F188E6B4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23" y="1341060"/>
            <a:ext cx="10532502" cy="46606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1500" y="1651545"/>
            <a:ext cx="6667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28725" y="1327695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38250" y="1651545"/>
            <a:ext cx="1905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43250" y="1651545"/>
            <a:ext cx="84772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352797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2694533"/>
            <a:ext cx="6667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28725" y="1670595"/>
            <a:ext cx="9525" cy="103346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38250" y="1923008"/>
            <a:ext cx="1905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43250" y="1923008"/>
            <a:ext cx="8477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43250" y="1670595"/>
            <a:ext cx="9525" cy="26193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38250" y="2180183"/>
            <a:ext cx="1905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143250" y="2180183"/>
            <a:ext cx="8477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143250" y="1932533"/>
            <a:ext cx="9525" cy="257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238250" y="2437358"/>
            <a:ext cx="1905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143250" y="2437358"/>
            <a:ext cx="8477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143250" y="2189708"/>
            <a:ext cx="9525" cy="257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238250" y="2694533"/>
            <a:ext cx="1905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143250" y="2694533"/>
            <a:ext cx="8477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143250" y="2446883"/>
            <a:ext cx="9525" cy="257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1500" y="3466058"/>
            <a:ext cx="6667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71500" y="2704058"/>
            <a:ext cx="666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228725" y="2704058"/>
            <a:ext cx="9525" cy="771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238250" y="2951708"/>
            <a:ext cx="1905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238250" y="2704058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143250" y="2951708"/>
            <a:ext cx="8477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143250" y="2704058"/>
            <a:ext cx="847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143250" y="2704058"/>
            <a:ext cx="9525" cy="257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238250" y="3208883"/>
            <a:ext cx="1905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143250" y="3208883"/>
            <a:ext cx="8477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143250" y="2961233"/>
            <a:ext cx="9525" cy="257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238250" y="3466058"/>
            <a:ext cx="19050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143250" y="3466058"/>
            <a:ext cx="8477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143250" y="3218408"/>
            <a:ext cx="9525" cy="257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71500" y="571500"/>
            <a:ext cx="11601450" cy="470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04"/>
              </a:lnSpc>
            </a:pPr>
            <a:r>
              <a:rPr sz="2850" b="1" i="0" u="none">
                <a:solidFill>
                  <a:srgbClr val="005088"/>
                </a:solidFill>
                <a:latin typeface="Merriweather"/>
              </a:rPr>
              <a:t>Bottom 5 States (Alta Incidenza Trasporto)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D0F7BA0-BC58-D27F-1514-7033F3AC2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1" y="1206864"/>
            <a:ext cx="9936862" cy="48654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467225"/>
            <a:ext cx="11049000" cy="11656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33575"/>
            <a:ext cx="5286375" cy="2247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1933575"/>
            <a:ext cx="5286375" cy="2247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4714875"/>
            <a:ext cx="105537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1" i="0" u="none">
                <a:solidFill>
                  <a:srgbClr val="0F172A"/>
                </a:solidFill>
                <a:latin typeface="DM Sans"/>
              </a:rPr>
              <a:t>In sintesi: l'inefficienza logistica impone una "tassa geografica" che detta le regole degli acquisti e soffoca la crescita del mercato periferico.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24100"/>
            <a:ext cx="483060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05088"/>
                </a:solidFill>
                <a:latin typeface="Merriweather"/>
              </a:rPr>
              <a:t>Top 5 (es. SP, RJ, MG)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1300"/>
            <a:ext cx="46005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DM Sans"/>
              </a:rPr>
              <a:t>L'incidenza del trasporto è bassissima (colore azzurro/blu nel DWH). Questo permette ricavi enormi, spinti fluidamente da categorie trasversali.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2324100"/>
            <a:ext cx="483060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05088"/>
                </a:solidFill>
                <a:latin typeface="Merriweather"/>
              </a:rPr>
              <a:t>Bottom 5 (es. AC, AM, RO)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2781300"/>
            <a:ext cx="46005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DM Sans"/>
              </a:rPr>
              <a:t>Nei territori remoti, l'incidenza esplode fino a pesare il 50% del valore (colore arancione). I ricavi sono schiacciati.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470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04"/>
              </a:lnSpc>
            </a:pPr>
            <a:r>
              <a:rPr sz="2850" b="1" i="0" u="none">
                <a:solidFill>
                  <a:srgbClr val="005088"/>
                </a:solidFill>
                <a:latin typeface="Merriweather"/>
              </a:rPr>
              <a:t>La Tassa Geografica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5626" y="1604069"/>
            <a:ext cx="5980747" cy="1287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70"/>
              </a:lnSpc>
            </a:pPr>
            <a:r>
              <a:rPr sz="3900" b="1" i="0" u="none">
                <a:solidFill>
                  <a:srgbClr val="005088"/>
                </a:solidFill>
                <a:latin typeface="Merriweather"/>
              </a:rPr>
              <a:t>Parte 4 - I Colpevoli:</a:t>
            </a:r>
            <a:r>
              <a:t>
</a:t>
            </a:r>
            <a:r>
              <a:rPr sz="3900" b="1" i="0" u="none">
                <a:solidFill>
                  <a:srgbClr val="005088"/>
                </a:solidFill>
                <a:latin typeface="Merriweather"/>
              </a:rPr>
              <a:t> La Blacklist dei Partner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19750" y="3272730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85975" y="3510855"/>
            <a:ext cx="80200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DM Sans"/>
              </a:rPr>
              <a:t>Se sappiamo dove si perde margine, dobbiamo capire chi causa il problema.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4257526"/>
            <a:ext cx="8572500" cy="853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1" i="0" u="none">
                <a:solidFill>
                  <a:srgbClr val="005088"/>
                </a:solidFill>
                <a:latin typeface="DM Sans"/>
              </a:rPr>
              <a:t>"Quali sono i top 5 venditori con le peggiori performance associate?"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181675"/>
            <a:ext cx="9048750" cy="232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it-IT" sz="1350" dirty="0">
                <a:solidFill>
                  <a:srgbClr val="64748B"/>
                </a:solidFill>
                <a:latin typeface="DM Sans"/>
              </a:rPr>
              <a:t>P</a:t>
            </a:r>
            <a:r>
              <a:rPr sz="1350" b="0" i="0" u="none" dirty="0" err="1">
                <a:solidFill>
                  <a:srgbClr val="64748B"/>
                </a:solidFill>
                <a:latin typeface="DM Sans"/>
              </a:rPr>
              <a:t>ermettiamo</a:t>
            </a:r>
            <a:r>
              <a:rPr sz="1350" b="0" i="0" u="none" dirty="0">
                <a:solidFill>
                  <a:srgbClr val="64748B"/>
                </a:solidFill>
                <a:latin typeface="DM Sans"/>
              </a:rPr>
              <a:t> al management di </a:t>
            </a:r>
            <a:r>
              <a:rPr sz="1350" b="0" i="0" u="none" dirty="0" err="1">
                <a:solidFill>
                  <a:srgbClr val="64748B"/>
                </a:solidFill>
                <a:latin typeface="DM Sans"/>
              </a:rPr>
              <a:t>rintracciare</a:t>
            </a:r>
            <a:r>
              <a:rPr sz="1350" b="0" i="0" u="none" dirty="0">
                <a:solidFill>
                  <a:srgbClr val="64748B"/>
                </a:solidFill>
                <a:latin typeface="DM Sans"/>
              </a:rPr>
              <a:t> il partner </a:t>
            </a:r>
            <a:r>
              <a:rPr sz="1350" b="0" i="0" u="none" dirty="0" err="1">
                <a:solidFill>
                  <a:srgbClr val="64748B"/>
                </a:solidFill>
                <a:latin typeface="DM Sans"/>
              </a:rPr>
              <a:t>nel</a:t>
            </a:r>
            <a:r>
              <a:rPr sz="1350" b="0" i="0" u="none" dirty="0">
                <a:solidFill>
                  <a:srgbClr val="64748B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DM Sans"/>
              </a:rPr>
              <a:t>gestionale</a:t>
            </a:r>
            <a:r>
              <a:rPr sz="1350" b="0" i="0" u="none" dirty="0">
                <a:solidFill>
                  <a:srgbClr val="64748B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DM Sans"/>
              </a:rPr>
              <a:t>sorgente</a:t>
            </a:r>
            <a:r>
              <a:rPr sz="1350" b="0" i="0" u="none" dirty="0">
                <a:solidFill>
                  <a:srgbClr val="64748B"/>
                </a:solidFill>
                <a:latin typeface="DM 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296644"/>
            <a:ext cx="11049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 dirty="0" err="1">
                <a:solidFill>
                  <a:srgbClr val="9F1239"/>
                </a:solidFill>
                <a:latin typeface="DM Sans"/>
              </a:rPr>
              <a:t>Questi</a:t>
            </a:r>
            <a:r>
              <a:rPr sz="1350" b="0" i="0" u="none" dirty="0">
                <a:solidFill>
                  <a:srgbClr val="9F1239"/>
                </a:solidFill>
                <a:latin typeface="DM Sans"/>
              </a:rPr>
              <a:t> 5 </a:t>
            </a:r>
            <a:r>
              <a:rPr sz="1350" b="0" i="0" u="none" dirty="0" err="1">
                <a:solidFill>
                  <a:srgbClr val="9F1239"/>
                </a:solidFill>
                <a:latin typeface="DM Sans"/>
              </a:rPr>
              <a:t>giganti</a:t>
            </a:r>
            <a:r>
              <a:rPr sz="1350" b="0" i="0" u="none" dirty="0">
                <a:solidFill>
                  <a:srgbClr val="9F1239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9F1239"/>
                </a:solidFill>
                <a:latin typeface="DM Sans"/>
              </a:rPr>
              <a:t>incassano</a:t>
            </a:r>
            <a:r>
              <a:rPr sz="1350" b="0" i="0" u="none" dirty="0">
                <a:solidFill>
                  <a:srgbClr val="9F1239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9F1239"/>
                </a:solidFill>
                <a:latin typeface="DM Sans"/>
              </a:rPr>
              <a:t>centinaia</a:t>
            </a:r>
            <a:r>
              <a:rPr sz="1350" b="0" i="0" u="none" dirty="0">
                <a:solidFill>
                  <a:srgbClr val="9F1239"/>
                </a:solidFill>
                <a:latin typeface="DM Sans"/>
              </a:rPr>
              <a:t> di </a:t>
            </a:r>
            <a:r>
              <a:rPr sz="1350" b="0" i="0" u="none" dirty="0" err="1">
                <a:solidFill>
                  <a:srgbClr val="9F1239"/>
                </a:solidFill>
                <a:latin typeface="DM Sans"/>
              </a:rPr>
              <a:t>migliaia</a:t>
            </a:r>
            <a:r>
              <a:rPr sz="1350" b="0" i="0" u="none" dirty="0">
                <a:solidFill>
                  <a:srgbClr val="9F1239"/>
                </a:solidFill>
                <a:latin typeface="DM Sans"/>
              </a:rPr>
              <a:t> di Reais, ma la media </a:t>
            </a:r>
            <a:r>
              <a:rPr sz="1350" b="0" i="0" u="none" dirty="0" err="1">
                <a:solidFill>
                  <a:srgbClr val="9F1239"/>
                </a:solidFill>
                <a:latin typeface="DM Sans"/>
              </a:rPr>
              <a:t>recensioni</a:t>
            </a:r>
            <a:r>
              <a:rPr sz="1350" b="0" i="0" u="none" dirty="0">
                <a:solidFill>
                  <a:srgbClr val="9F1239"/>
                </a:solidFill>
                <a:latin typeface="DM Sans"/>
              </a:rPr>
              <a:t> (</a:t>
            </a:r>
            <a:r>
              <a:rPr sz="1350" b="0" i="0" u="none" dirty="0" err="1">
                <a:solidFill>
                  <a:srgbClr val="9F1239"/>
                </a:solidFill>
                <a:latin typeface="DM Sans"/>
              </a:rPr>
              <a:t>evidenziata</a:t>
            </a:r>
            <a:r>
              <a:rPr sz="1350" b="0" i="0" u="none" dirty="0">
                <a:solidFill>
                  <a:srgbClr val="9F1239"/>
                </a:solidFill>
                <a:latin typeface="DM Sans"/>
              </a:rPr>
              <a:t> in </a:t>
            </a:r>
            <a:r>
              <a:rPr sz="1350" b="0" i="0" u="none" dirty="0" err="1">
                <a:solidFill>
                  <a:srgbClr val="9F1239"/>
                </a:solidFill>
                <a:latin typeface="DM Sans"/>
              </a:rPr>
              <a:t>arancione</a:t>
            </a:r>
            <a:r>
              <a:rPr sz="1350" b="0" i="0" u="none" dirty="0">
                <a:solidFill>
                  <a:srgbClr val="9F1239"/>
                </a:solidFill>
                <a:latin typeface="DM Sans"/>
              </a:rPr>
              <a:t> per il Partner 5) è </a:t>
            </a:r>
            <a:r>
              <a:rPr sz="1350" b="0" i="0" u="none" dirty="0" err="1">
                <a:solidFill>
                  <a:srgbClr val="9F1239"/>
                </a:solidFill>
                <a:latin typeface="DM Sans"/>
              </a:rPr>
              <a:t>disastrosa</a:t>
            </a:r>
            <a:r>
              <a:rPr sz="1350" b="0" i="0" u="none" dirty="0">
                <a:solidFill>
                  <a:srgbClr val="9F1239"/>
                </a:solidFill>
                <a:latin typeface="DM Sans"/>
              </a:rPr>
              <a:t>. Sono </a:t>
            </a:r>
            <a:r>
              <a:rPr sz="1350" b="0" i="0" u="none" dirty="0" err="1">
                <a:solidFill>
                  <a:srgbClr val="9F1239"/>
                </a:solidFill>
                <a:latin typeface="DM Sans"/>
              </a:rPr>
              <a:t>candidati</a:t>
            </a:r>
            <a:r>
              <a:rPr sz="1350" b="0" i="0" u="none" dirty="0">
                <a:solidFill>
                  <a:srgbClr val="9F1239"/>
                </a:solidFill>
                <a:latin typeface="DM Sans"/>
              </a:rPr>
              <a:t> a </a:t>
            </a:r>
            <a:r>
              <a:rPr sz="1350" b="0" i="0" u="none" dirty="0" err="1">
                <a:solidFill>
                  <a:srgbClr val="9F1239"/>
                </a:solidFill>
                <a:latin typeface="DM Sans"/>
              </a:rPr>
              <a:t>sanzioni</a:t>
            </a:r>
            <a:r>
              <a:rPr sz="1350" b="0" i="0" u="none" dirty="0">
                <a:solidFill>
                  <a:srgbClr val="9F1239"/>
                </a:solidFill>
                <a:latin typeface="DM Sans"/>
              </a:rPr>
              <a:t> immediate.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451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04"/>
              </a:lnSpc>
            </a:pPr>
            <a:r>
              <a:rPr sz="2850" b="1" i="0" u="none" dirty="0">
                <a:solidFill>
                  <a:srgbClr val="005088"/>
                </a:solidFill>
                <a:latin typeface="Merriweather"/>
              </a:rPr>
              <a:t>La Blacklist </a:t>
            </a:r>
            <a:r>
              <a:rPr sz="2850" b="1" i="0" u="none" dirty="0" err="1">
                <a:solidFill>
                  <a:srgbClr val="005088"/>
                </a:solidFill>
                <a:latin typeface="Merriweather"/>
              </a:rPr>
              <a:t>dei</a:t>
            </a:r>
            <a:r>
              <a:rPr sz="2850" b="1" i="0" u="none" dirty="0">
                <a:solidFill>
                  <a:srgbClr val="005088"/>
                </a:solidFill>
                <a:latin typeface="Merriweather"/>
              </a:rPr>
              <a:t> Partner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44A0F9-6D31-10EC-B823-5E6ABB095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98" y="2262330"/>
            <a:ext cx="11355803" cy="17945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10551" y="1604069"/>
            <a:ext cx="7170896" cy="1287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70"/>
              </a:lnSpc>
            </a:pPr>
            <a:r>
              <a:rPr sz="3900" b="1" i="0" u="none">
                <a:solidFill>
                  <a:srgbClr val="005088"/>
                </a:solidFill>
                <a:latin typeface="Merriweather"/>
              </a:rPr>
              <a:t>Parte 5 - Il Comportamento:</a:t>
            </a:r>
            <a:r>
              <a:t>
</a:t>
            </a:r>
            <a:r>
              <a:rPr sz="3900" b="1" i="0" u="none">
                <a:solidFill>
                  <a:srgbClr val="005088"/>
                </a:solidFill>
                <a:latin typeface="Merriweather"/>
              </a:rPr>
              <a:t> Abitudini Finanziarie e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19750" y="3272730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52762" y="3510855"/>
            <a:ext cx="608647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DM Sans"/>
              </a:rPr>
              <a:t>La logistica disastrata influisce sulle scelte di pagamento?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4257526"/>
            <a:ext cx="8572500" cy="853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1" i="0" u="none">
                <a:solidFill>
                  <a:srgbClr val="005088"/>
                </a:solidFill>
                <a:latin typeface="DM Sans"/>
              </a:rPr>
              <a:t>"I carrelli costosi nel Nord-Est vengono pagati a rate per ammortizzare il trasporto?"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" y="5212259"/>
            <a:ext cx="11049000" cy="10742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9150" y="5459908"/>
            <a:ext cx="105537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 dirty="0">
                <a:solidFill>
                  <a:srgbClr val="334155"/>
                </a:solidFill>
                <a:latin typeface="DM Sans"/>
              </a:rPr>
              <a:t>Insight:</a:t>
            </a:r>
            <a:r>
              <a:rPr sz="1425" b="0" i="0" u="none" dirty="0">
                <a:solidFill>
                  <a:srgbClr val="334155"/>
                </a:solidFill>
                <a:latin typeface="DM Sans"/>
              </a:rPr>
              <a:t> Nel Nordeste, dove </a:t>
            </a:r>
            <a:r>
              <a:rPr sz="1425" b="0" i="0" u="none" dirty="0" err="1">
                <a:solidFill>
                  <a:srgbClr val="334155"/>
                </a:solidFill>
                <a:latin typeface="DM Sans"/>
              </a:rPr>
              <a:t>i</a:t>
            </a:r>
            <a:r>
              <a:rPr sz="142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DM Sans"/>
              </a:rPr>
              <a:t>ritardi</a:t>
            </a:r>
            <a:r>
              <a:rPr sz="1425" b="0" i="0" u="none" dirty="0">
                <a:solidFill>
                  <a:srgbClr val="334155"/>
                </a:solidFill>
                <a:latin typeface="DM Sans"/>
              </a:rPr>
              <a:t> e </a:t>
            </a:r>
            <a:r>
              <a:rPr sz="1425" b="0" i="0" u="none" dirty="0" err="1">
                <a:solidFill>
                  <a:srgbClr val="334155"/>
                </a:solidFill>
                <a:latin typeface="DM Sans"/>
              </a:rPr>
              <a:t>i</a:t>
            </a:r>
            <a:r>
              <a:rPr sz="142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DM Sans"/>
              </a:rPr>
              <a:t>costi</a:t>
            </a:r>
            <a:r>
              <a:rPr sz="1425" b="0" i="0" u="none" dirty="0">
                <a:solidFill>
                  <a:srgbClr val="334155"/>
                </a:solidFill>
                <a:latin typeface="DM Sans"/>
              </a:rPr>
              <a:t> di </a:t>
            </a:r>
            <a:r>
              <a:rPr sz="1425" b="0" i="0" u="none" dirty="0" err="1">
                <a:solidFill>
                  <a:srgbClr val="334155"/>
                </a:solidFill>
                <a:latin typeface="DM Sans"/>
              </a:rPr>
              <a:t>trasporto</a:t>
            </a:r>
            <a:r>
              <a:rPr sz="142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DM Sans"/>
              </a:rPr>
              <a:t>sono</a:t>
            </a:r>
            <a:r>
              <a:rPr sz="142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DM Sans"/>
              </a:rPr>
              <a:t>altissimi</a:t>
            </a:r>
            <a:r>
              <a:rPr sz="1425" b="0" i="0" u="none" dirty="0">
                <a:solidFill>
                  <a:srgbClr val="334155"/>
                </a:solidFill>
                <a:latin typeface="DM Sans"/>
              </a:rPr>
              <a:t>, per </a:t>
            </a:r>
            <a:r>
              <a:rPr sz="1425" b="0" i="0" u="none" dirty="0" err="1">
                <a:solidFill>
                  <a:srgbClr val="334155"/>
                </a:solidFill>
                <a:latin typeface="DM Sans"/>
              </a:rPr>
              <a:t>i</a:t>
            </a:r>
            <a:r>
              <a:rPr sz="142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DM Sans"/>
              </a:rPr>
              <a:t>carrelli</a:t>
            </a:r>
            <a:r>
              <a:rPr sz="142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DM Sans"/>
              </a:rPr>
              <a:t>più</a:t>
            </a:r>
            <a:r>
              <a:rPr sz="142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DM Sans"/>
              </a:rPr>
              <a:t>costosi</a:t>
            </a:r>
            <a:r>
              <a:rPr sz="1425" b="0" i="0" u="none" dirty="0">
                <a:solidFill>
                  <a:srgbClr val="334155"/>
                </a:solidFill>
                <a:latin typeface="DM Sans"/>
              </a:rPr>
              <a:t> il </a:t>
            </a:r>
            <a:r>
              <a:rPr sz="1425" b="0" i="0" u="none" dirty="0" err="1">
                <a:solidFill>
                  <a:srgbClr val="334155"/>
                </a:solidFill>
                <a:latin typeface="DM Sans"/>
              </a:rPr>
              <a:t>cliente</a:t>
            </a:r>
            <a:r>
              <a:rPr sz="1425" b="0" i="0" u="none" dirty="0">
                <a:solidFill>
                  <a:srgbClr val="334155"/>
                </a:solidFill>
                <a:latin typeface="DM Sans"/>
              </a:rPr>
              <a:t> è </a:t>
            </a:r>
            <a:r>
              <a:rPr sz="1425" b="0" i="1" u="none" dirty="0">
                <a:solidFill>
                  <a:srgbClr val="334155"/>
                </a:solidFill>
                <a:latin typeface="DM Sans"/>
              </a:rPr>
              <a:t>obbligato</a:t>
            </a:r>
            <a:r>
              <a:rPr sz="1425" b="0" i="0" u="none" dirty="0">
                <a:solidFill>
                  <a:srgbClr val="334155"/>
                </a:solidFill>
                <a:latin typeface="DM Sans"/>
              </a:rPr>
              <a:t> a </a:t>
            </a:r>
            <a:r>
              <a:rPr sz="1425" b="0" i="0" u="none" dirty="0" err="1">
                <a:solidFill>
                  <a:srgbClr val="334155"/>
                </a:solidFill>
                <a:latin typeface="DM Sans"/>
              </a:rPr>
              <a:t>usare</a:t>
            </a:r>
            <a:r>
              <a:rPr sz="1425" b="0" i="0" u="none" dirty="0">
                <a:solidFill>
                  <a:srgbClr val="334155"/>
                </a:solidFill>
                <a:latin typeface="DM Sans"/>
              </a:rPr>
              <a:t> la carta per </a:t>
            </a:r>
            <a:r>
              <a:rPr sz="1425" b="0" i="0" u="none" dirty="0" err="1">
                <a:solidFill>
                  <a:srgbClr val="334155"/>
                </a:solidFill>
                <a:latin typeface="DM Sans"/>
              </a:rPr>
              <a:t>rateizzare</a:t>
            </a:r>
            <a:r>
              <a:rPr sz="1425" b="0" i="0" u="none" dirty="0">
                <a:solidFill>
                  <a:srgbClr val="334155"/>
                </a:solidFill>
                <a:latin typeface="DM Sans"/>
              </a:rPr>
              <a:t> e </a:t>
            </a:r>
            <a:r>
              <a:rPr sz="1425" b="0" i="0" u="none" dirty="0" err="1">
                <a:solidFill>
                  <a:srgbClr val="334155"/>
                </a:solidFill>
                <a:latin typeface="DM Sans"/>
              </a:rPr>
              <a:t>ammortizzare</a:t>
            </a:r>
            <a:r>
              <a:rPr sz="1425" b="0" i="0" u="none" dirty="0">
                <a:solidFill>
                  <a:srgbClr val="334155"/>
                </a:solidFill>
                <a:latin typeface="DM Sans"/>
              </a:rPr>
              <a:t> il </a:t>
            </a:r>
            <a:r>
              <a:rPr sz="1425" b="0" i="0" u="none" dirty="0" err="1">
                <a:solidFill>
                  <a:srgbClr val="334155"/>
                </a:solidFill>
                <a:latin typeface="DM Sans"/>
              </a:rPr>
              <a:t>colpo</a:t>
            </a:r>
            <a:r>
              <a:rPr sz="1425" b="0" i="0" u="none" dirty="0">
                <a:solidFill>
                  <a:srgbClr val="334155"/>
                </a:solidFill>
                <a:latin typeface="DM Sans"/>
              </a:rPr>
              <a:t>. </a:t>
            </a:r>
            <a:r>
              <a:rPr sz="1425" b="1" i="0" u="none" dirty="0">
                <a:solidFill>
                  <a:srgbClr val="334155"/>
                </a:solidFill>
                <a:latin typeface="DM Sans"/>
              </a:rPr>
              <a:t>Il </a:t>
            </a:r>
            <a:r>
              <a:rPr sz="1425" b="1" i="0" u="none" dirty="0" err="1">
                <a:solidFill>
                  <a:srgbClr val="334155"/>
                </a:solidFill>
                <a:latin typeface="DM Sans"/>
              </a:rPr>
              <a:t>costo</a:t>
            </a:r>
            <a:r>
              <a:rPr sz="1425" b="1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25" b="1" i="0" u="none" dirty="0" err="1">
                <a:solidFill>
                  <a:srgbClr val="334155"/>
                </a:solidFill>
                <a:latin typeface="DM Sans"/>
              </a:rPr>
              <a:t>logistico</a:t>
            </a:r>
            <a:r>
              <a:rPr sz="1425" b="1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25" b="1" i="0" u="none" dirty="0" err="1">
                <a:solidFill>
                  <a:srgbClr val="334155"/>
                </a:solidFill>
                <a:latin typeface="DM Sans"/>
              </a:rPr>
              <a:t>diventa</a:t>
            </a:r>
            <a:r>
              <a:rPr sz="1425" b="1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425" b="1" i="0" u="none" dirty="0" err="1">
                <a:solidFill>
                  <a:srgbClr val="334155"/>
                </a:solidFill>
                <a:latin typeface="DM Sans"/>
              </a:rPr>
              <a:t>indebitamento</a:t>
            </a:r>
            <a:r>
              <a:rPr sz="1425" b="1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470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04"/>
              </a:lnSpc>
            </a:pPr>
            <a:r>
              <a:rPr sz="2850" b="1" i="0" u="none">
                <a:solidFill>
                  <a:srgbClr val="005088"/>
                </a:solidFill>
                <a:latin typeface="Merriweather"/>
              </a:rPr>
              <a:t>Le Abitudini Finanziarie (Payment Type)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AA9CFF-3397-5623-3E70-16F4683AF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758" y="1399032"/>
            <a:ext cx="11178894" cy="34142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5288" y="1817489"/>
            <a:ext cx="11381422" cy="1287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70"/>
              </a:lnSpc>
            </a:pPr>
            <a:r>
              <a:rPr sz="3900" b="1" i="0" u="none">
                <a:solidFill>
                  <a:srgbClr val="005088"/>
                </a:solidFill>
                <a:latin typeface="Merriweather"/>
              </a:rPr>
              <a:t>Parte 6 - L'Origine:</a:t>
            </a:r>
            <a:r>
              <a:t>
</a:t>
            </a:r>
            <a:r>
              <a:rPr sz="3900" b="1" i="0" u="none">
                <a:solidFill>
                  <a:srgbClr val="005088"/>
                </a:solidFill>
                <a:latin typeface="Merriweather"/>
              </a:rPr>
              <a:t> Discrepanza Logistica Origine-Destinazione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19750" y="3486150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71737" y="3724275"/>
            <a:ext cx="724852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DM Sans"/>
              </a:rPr>
              <a:t>Mappiamo le tratte fisiche dei prodotti sull'intero territorio nazionale.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5950" y="4470945"/>
            <a:ext cx="842010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1" i="0" u="none">
                <a:solidFill>
                  <a:srgbClr val="005088"/>
                </a:solidFill>
                <a:latin typeface="DM Sans"/>
              </a:rPr>
              <a:t>"Qual è la rotta interna che genera il maggior attrito economico?"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09750" y="5853064"/>
            <a:ext cx="8572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 dirty="0">
                <a:solidFill>
                  <a:srgbClr val="334155"/>
                </a:solidFill>
                <a:latin typeface="DM Sans"/>
              </a:rPr>
              <a:t>Quando un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venditore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del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Sudeste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spedisce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verso le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aree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periferiche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(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i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"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Punti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di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Rottura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" in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arancione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), </a:t>
            </a:r>
            <a:r>
              <a:rPr sz="1350" b="1" i="0" u="none" dirty="0">
                <a:solidFill>
                  <a:srgbClr val="334155"/>
                </a:solidFill>
                <a:latin typeface="DM Sans"/>
              </a:rPr>
              <a:t>il </a:t>
            </a:r>
            <a:r>
              <a:rPr sz="1350" b="1" i="0" u="none" dirty="0" err="1">
                <a:solidFill>
                  <a:srgbClr val="334155"/>
                </a:solidFill>
                <a:latin typeface="DM Sans"/>
              </a:rPr>
              <a:t>costo</a:t>
            </a:r>
            <a:r>
              <a:rPr sz="1350" b="1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1" i="0" u="none" dirty="0" err="1">
                <a:solidFill>
                  <a:srgbClr val="334155"/>
                </a:solidFill>
                <a:latin typeface="DM Sans"/>
              </a:rPr>
              <a:t>logistico</a:t>
            </a:r>
            <a:r>
              <a:rPr sz="1350" b="1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1" i="0" u="none" dirty="0" err="1">
                <a:solidFill>
                  <a:srgbClr val="334155"/>
                </a:solidFill>
                <a:latin typeface="DM Sans"/>
              </a:rPr>
              <a:t>disintegra</a:t>
            </a:r>
            <a:r>
              <a:rPr sz="1350" b="1" i="0" u="none" dirty="0">
                <a:solidFill>
                  <a:srgbClr val="334155"/>
                </a:solidFill>
                <a:latin typeface="DM Sans"/>
              </a:rPr>
              <a:t> il </a:t>
            </a:r>
            <a:r>
              <a:rPr sz="1350" b="1" i="0" u="none" dirty="0" err="1">
                <a:solidFill>
                  <a:srgbClr val="334155"/>
                </a:solidFill>
                <a:latin typeface="DM Sans"/>
              </a:rPr>
              <a:t>margine</a:t>
            </a:r>
            <a:r>
              <a:rPr sz="1350" b="1" i="0" u="none" dirty="0">
                <a:solidFill>
                  <a:srgbClr val="334155"/>
                </a:solidFill>
                <a:latin typeface="DM Sans"/>
              </a:rPr>
              <a:t>.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L'e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-commerce è fortemente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sbilanciato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71500"/>
            <a:ext cx="11601450" cy="470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04"/>
              </a:lnSpc>
            </a:pPr>
            <a:r>
              <a:rPr sz="2850" b="1" i="0" u="none">
                <a:solidFill>
                  <a:srgbClr val="005088"/>
                </a:solidFill>
                <a:latin typeface="Merriweather"/>
              </a:rPr>
              <a:t>La Discrepanza Logistica (Buchi Bianchi e Punti di Rottura)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713884-CA87-82A4-BA68-2202E6B90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425" y="1268543"/>
            <a:ext cx="5883150" cy="432091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65458" y="1817489"/>
            <a:ext cx="8661082" cy="1287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70"/>
              </a:lnSpc>
            </a:pPr>
            <a:r>
              <a:rPr sz="3900" b="1" i="0" u="none">
                <a:solidFill>
                  <a:srgbClr val="005088"/>
                </a:solidFill>
                <a:latin typeface="Merriweather"/>
              </a:rPr>
              <a:t>Parte 7 - Conclusione Strategica 1:</a:t>
            </a:r>
            <a:r>
              <a:t>
</a:t>
            </a:r>
            <a:r>
              <a:rPr sz="3900" b="1" i="0" u="none">
                <a:solidFill>
                  <a:srgbClr val="005088"/>
                </a:solidFill>
                <a:latin typeface="Merriweather"/>
              </a:rPr>
              <a:t> L'Emorragia del Valore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19750" y="3486150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90750" y="3724275"/>
            <a:ext cx="78105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DM Sans"/>
              </a:rPr>
              <a:t>La direzione aziendale ha bisogno di cifre esatte per giustificare un'azione.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6450" y="4470945"/>
            <a:ext cx="803910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1" i="0" u="none">
                <a:solidFill>
                  <a:srgbClr val="005088"/>
                </a:solidFill>
                <a:latin typeface="DM Sans"/>
              </a:rPr>
              <a:t>"Quanto fatturato (in R$) è attualmente a rischio abbandono?"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89696"/>
            <a:ext cx="5286375" cy="1943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3289696"/>
            <a:ext cx="5286375" cy="1943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09750" y="2333625"/>
            <a:ext cx="85725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64748B"/>
                </a:solidFill>
                <a:latin typeface="DM Sans"/>
              </a:rPr>
              <a:t>Per ottenere il volume d'affari esatto generato da clienti che hanno subito un disservizio severo, isoliamo matematicamente: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80221"/>
            <a:ext cx="4830603" cy="314325"/>
          </a:xfrm>
          <a:prstGeom prst="rect">
            <a:avLst/>
          </a:prstGeom>
          <a:noFill/>
        </p:spPr>
        <p:txBody>
          <a:bodyPr wrap="square" lIns="371475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EF4444"/>
                </a:solidFill>
                <a:latin typeface="Merriweather"/>
              </a:rPr>
              <a:t>Filtro Recensione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37421"/>
            <a:ext cx="46005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DM Sans"/>
              </a:rPr>
              <a:t>Manteniamo rigorosamente solo le recensioni pessime (valore = 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3680221"/>
            <a:ext cx="4830603" cy="31432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EA580C"/>
                </a:solidFill>
                <a:latin typeface="Merriweather"/>
              </a:rPr>
              <a:t>Filtro Logistico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4137421"/>
            <a:ext cx="46005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DM Sans"/>
              </a:rPr>
              <a:t>Isoliamo solo le transazioni con DATEDIFF &gt; 0 (che hanno fallito la data promessa).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18321"/>
            <a:ext cx="276225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470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04"/>
              </a:lnSpc>
            </a:pPr>
            <a:r>
              <a:rPr sz="2850" b="1" i="0" u="none">
                <a:solidFill>
                  <a:srgbClr val="005088"/>
                </a:solidFill>
                <a:latin typeface="Merriweather"/>
              </a:rPr>
              <a:t>Il "Filtro del Disastro"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470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04"/>
              </a:lnSpc>
            </a:pPr>
            <a:r>
              <a:rPr sz="2850" b="1" i="0" u="none">
                <a:solidFill>
                  <a:srgbClr val="005088"/>
                </a:solidFill>
                <a:latin typeface="Merriweather"/>
              </a:rPr>
              <a:t>L'Emorragia del Valore (Review = 1 &amp; Ritardo &gt; 0)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4AF234-7ADC-4118-27B9-A453E7662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528" y="1286355"/>
            <a:ext cx="8229777" cy="500014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25453" y="1482328"/>
            <a:ext cx="8741092" cy="1287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70"/>
              </a:lnSpc>
            </a:pPr>
            <a:r>
              <a:rPr sz="3900" b="1" i="0" u="none">
                <a:solidFill>
                  <a:srgbClr val="005088"/>
                </a:solidFill>
                <a:latin typeface="Merriweather"/>
              </a:rPr>
              <a:t>Parte 8 - Conclusione Strategica 2:</a:t>
            </a:r>
            <a:r>
              <a:t>
</a:t>
            </a:r>
            <a:r>
              <a:rPr sz="3900" b="1" i="0" u="none">
                <a:solidFill>
                  <a:srgbClr val="005088"/>
                </a:solidFill>
                <a:latin typeface="Merriweather"/>
              </a:rPr>
              <a:t> L'Ipotesi di Ottimizzazione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19750" y="3150989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09750" y="3389114"/>
            <a:ext cx="85725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DM Sans"/>
              </a:rPr>
              <a:t>Di fronte a questa emorragia, proponiamo un test di ottimizzazione del catalogo basato sui dati.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4501455"/>
            <a:ext cx="85725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1" i="0" u="none">
                <a:solidFill>
                  <a:srgbClr val="005088"/>
                </a:solidFill>
                <a:latin typeface="DM Sans"/>
              </a:rPr>
              <a:t>"Se bloccassimo le transazioni logísticamente pesanti verso le aree dove il trasporto supera il 35%, quale sarebbe l'impatto?"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9750" y="5816055"/>
            <a:ext cx="85725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 dirty="0">
                <a:solidFill>
                  <a:srgbClr val="64748B"/>
                </a:solidFill>
                <a:latin typeface="DM Sans"/>
              </a:rPr>
              <a:t>La </a:t>
            </a:r>
            <a:r>
              <a:rPr sz="1200" b="0" i="0" u="none" dirty="0" err="1">
                <a:solidFill>
                  <a:srgbClr val="64748B"/>
                </a:solidFill>
                <a:latin typeface="DM Sans"/>
              </a:rPr>
              <a:t>simulazione</a:t>
            </a:r>
            <a:r>
              <a:rPr sz="1200" b="0" i="0" u="none" dirty="0">
                <a:solidFill>
                  <a:srgbClr val="64748B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DM Sans"/>
              </a:rPr>
              <a:t>incrocia</a:t>
            </a:r>
            <a:r>
              <a:rPr sz="1200" b="0" i="0" u="none" dirty="0">
                <a:solidFill>
                  <a:srgbClr val="64748B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DM Sans"/>
              </a:rPr>
              <a:t>i</a:t>
            </a:r>
            <a:r>
              <a:rPr sz="1200" b="0" i="0" u="none" dirty="0">
                <a:solidFill>
                  <a:srgbClr val="64748B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DM Sans"/>
              </a:rPr>
              <a:t>ricavi</a:t>
            </a:r>
            <a:r>
              <a:rPr sz="1200" b="0" i="0" u="none" dirty="0">
                <a:solidFill>
                  <a:srgbClr val="64748B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DM Sans"/>
              </a:rPr>
              <a:t>sacrificati</a:t>
            </a:r>
            <a:r>
              <a:rPr sz="1200" b="0" i="0" u="none" dirty="0">
                <a:solidFill>
                  <a:srgbClr val="64748B"/>
                </a:solidFill>
                <a:latin typeface="DM Sans"/>
              </a:rPr>
              <a:t> con il CSAT. I </a:t>
            </a:r>
            <a:r>
              <a:rPr sz="1200" b="0" i="0" u="none" dirty="0" err="1">
                <a:solidFill>
                  <a:srgbClr val="64748B"/>
                </a:solidFill>
                <a:latin typeface="DM Sans"/>
              </a:rPr>
              <a:t>ricavi</a:t>
            </a:r>
            <a:r>
              <a:rPr sz="1200" b="0" i="0" u="none" dirty="0">
                <a:solidFill>
                  <a:srgbClr val="64748B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DM Sans"/>
              </a:rPr>
              <a:t>generati</a:t>
            </a:r>
            <a:r>
              <a:rPr sz="1200" b="0" i="0" u="none" dirty="0">
                <a:solidFill>
                  <a:srgbClr val="64748B"/>
                </a:solidFill>
                <a:latin typeface="DM Sans"/>
              </a:rPr>
              <a:t> da </a:t>
            </a:r>
            <a:r>
              <a:rPr sz="1200" b="0" i="0" u="none" dirty="0" err="1">
                <a:solidFill>
                  <a:srgbClr val="64748B"/>
                </a:solidFill>
                <a:latin typeface="DM Sans"/>
              </a:rPr>
              <a:t>queste</a:t>
            </a:r>
            <a:r>
              <a:rPr sz="1200" b="0" i="0" u="none" dirty="0">
                <a:solidFill>
                  <a:srgbClr val="64748B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DM Sans"/>
              </a:rPr>
              <a:t>transazioni</a:t>
            </a:r>
            <a:r>
              <a:rPr sz="1200" b="0" i="0" u="none" dirty="0">
                <a:solidFill>
                  <a:srgbClr val="64748B"/>
                </a:solidFill>
                <a:latin typeface="DM Sans"/>
              </a:rPr>
              <a:t> ultra-</a:t>
            </a:r>
            <a:r>
              <a:rPr sz="1200" b="0" i="0" u="none" dirty="0" err="1">
                <a:solidFill>
                  <a:srgbClr val="64748B"/>
                </a:solidFill>
                <a:latin typeface="DM Sans"/>
              </a:rPr>
              <a:t>pesanti</a:t>
            </a:r>
            <a:r>
              <a:rPr sz="1200" b="0" i="0" u="none" dirty="0">
                <a:solidFill>
                  <a:srgbClr val="64748B"/>
                </a:solidFill>
                <a:latin typeface="DM Sans"/>
              </a:rPr>
              <a:t> verso </a:t>
            </a:r>
            <a:r>
              <a:rPr sz="1200" b="0" i="0" u="none" dirty="0" err="1">
                <a:solidFill>
                  <a:srgbClr val="64748B"/>
                </a:solidFill>
                <a:latin typeface="DM Sans"/>
              </a:rPr>
              <a:t>aree</a:t>
            </a:r>
            <a:r>
              <a:rPr sz="1200" b="0" i="0" u="none" dirty="0">
                <a:solidFill>
                  <a:srgbClr val="64748B"/>
                </a:solidFill>
                <a:latin typeface="DM Sans"/>
              </a:rPr>
              <a:t> remote </a:t>
            </a:r>
            <a:r>
              <a:rPr sz="1200" b="0" i="0" u="none" dirty="0" err="1">
                <a:solidFill>
                  <a:srgbClr val="64748B"/>
                </a:solidFill>
                <a:latin typeface="DM Sans"/>
              </a:rPr>
              <a:t>sono</a:t>
            </a:r>
            <a:r>
              <a:rPr sz="1200" b="0" i="0" u="none" dirty="0">
                <a:solidFill>
                  <a:srgbClr val="64748B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DM Sans"/>
              </a:rPr>
              <a:t>irrisori</a:t>
            </a:r>
            <a:r>
              <a:rPr sz="1200" b="0" i="0" u="none" dirty="0">
                <a:solidFill>
                  <a:srgbClr val="64748B"/>
                </a:solidFill>
                <a:latin typeface="DM Sans"/>
              </a:rPr>
              <a:t> (</a:t>
            </a:r>
            <a:r>
              <a:rPr sz="1200" b="0" i="0" u="none" dirty="0" err="1">
                <a:solidFill>
                  <a:srgbClr val="64748B"/>
                </a:solidFill>
                <a:latin typeface="DM Sans"/>
              </a:rPr>
              <a:t>ammassati</a:t>
            </a:r>
            <a:r>
              <a:rPr sz="1200" b="0" i="0" u="none" dirty="0">
                <a:solidFill>
                  <a:srgbClr val="64748B"/>
                </a:solidFill>
                <a:latin typeface="DM Sans"/>
              </a:rPr>
              <a:t> in basso), ma </a:t>
            </a:r>
            <a:r>
              <a:rPr sz="1200" b="0" i="0" u="none" dirty="0" err="1">
                <a:solidFill>
                  <a:srgbClr val="64748B"/>
                </a:solidFill>
                <a:latin typeface="DM Sans"/>
              </a:rPr>
              <a:t>generano</a:t>
            </a:r>
            <a:r>
              <a:rPr sz="1200" b="0" i="0" u="none" dirty="0">
                <a:solidFill>
                  <a:srgbClr val="64748B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DM Sans"/>
              </a:rPr>
              <a:t>stabilmente</a:t>
            </a:r>
            <a:r>
              <a:rPr sz="1200" b="0" i="0" u="none" dirty="0">
                <a:solidFill>
                  <a:srgbClr val="64748B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DM Sans"/>
              </a:rPr>
              <a:t>recensioni</a:t>
            </a:r>
            <a:r>
              <a:rPr sz="1200" b="0" i="0" u="none" dirty="0">
                <a:solidFill>
                  <a:srgbClr val="64748B"/>
                </a:solidFill>
                <a:latin typeface="DM Sans"/>
              </a:rPr>
              <a:t> a 1 stella (cluster rosso).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11601450" cy="470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04"/>
              </a:lnSpc>
            </a:pPr>
            <a:r>
              <a:rPr sz="2850" b="1" i="0" u="none">
                <a:solidFill>
                  <a:srgbClr val="005088"/>
                </a:solidFill>
                <a:latin typeface="Merriweather"/>
              </a:rPr>
              <a:t>Ipotesi di Ottimizzazione (Fatturato vs CSAT)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36CC32-6B6F-8344-E74C-DF499A7F2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857" y="1270118"/>
            <a:ext cx="7446578" cy="43177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52625" y="1462087"/>
            <a:ext cx="8286750" cy="3400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25"/>
              </a:lnSpc>
            </a:pPr>
            <a:r>
              <a:rPr sz="2550" b="0" i="1" u="none">
                <a:solidFill>
                  <a:srgbClr val="005088"/>
                </a:solidFill>
                <a:latin typeface="Merriweather Light"/>
              </a:rPr>
              <a:t> Questa è la prova matematica definitiva. Bloccando la vendita di questi specifici articoli verso le aree periferiche, l'azienda rinuncerebbe a una frazione microscopica del fatturato totale, ma eliminerebbe alla radice una fonte certa di recensioni a 1 stella, abbattendo drasticamente i rimborsi e ripristinando il CSAT globale.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1125" y="1747837"/>
            <a:ext cx="270569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6000" b="0" i="1" u="none">
                <a:solidFill>
                  <a:srgbClr val="CDD6E2"/>
                </a:solidFill>
                <a:latin typeface="sans-serif Light"/>
              </a:rP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0307" y="4957762"/>
            <a:ext cx="270569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6000" b="0" i="1" u="none">
                <a:solidFill>
                  <a:srgbClr val="CDD6E2"/>
                </a:solidFill>
                <a:latin typeface="sans-serif Light"/>
              </a:rPr>
              <a:t>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884</Words>
  <Application>Microsoft Office PowerPoint</Application>
  <PresentationFormat>Widescreen</PresentationFormat>
  <Paragraphs>67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DM Sans</vt:lpstr>
      <vt:lpstr>Merriweather</vt:lpstr>
      <vt:lpstr>Merriweather Light</vt:lpstr>
      <vt:lpstr>sans-serif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francesco tartaglia</dc:creator>
  <cp:keywords/>
  <dc:description>generated using python-pptx</dc:description>
  <cp:lastModifiedBy>FRANCESCO TARTAGLIA</cp:lastModifiedBy>
  <cp:revision>3</cp:revision>
  <dcterms:created xsi:type="dcterms:W3CDTF">2013-01-27T09:14:16Z</dcterms:created>
  <dcterms:modified xsi:type="dcterms:W3CDTF">2026-07-22T09:51:14Z</dcterms:modified>
  <cp:category/>
</cp:coreProperties>
</file>